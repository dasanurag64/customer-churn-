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F7949B-0AD1-4194-A706-338F4F7E8C0F}" v="419" dt="2026-07-31T19:43:34.0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85" d="100"/>
          <a:sy n="85" d="100"/>
        </p:scale>
        <p:origin x="36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348450-D46B-4929-B50A-8A836EEB0A9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032AC86-7C8F-42F5-925E-4F1F8EFE288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Reduce Subscriber Churn</a:t>
          </a:r>
        </a:p>
      </dgm:t>
    </dgm:pt>
    <dgm:pt modelId="{C7599055-7A7B-42EB-AEA1-9E44284E4735}" type="parTrans" cxnId="{3D17BEFD-B4E0-4861-A69F-738463EEFBC8}">
      <dgm:prSet/>
      <dgm:spPr/>
      <dgm:t>
        <a:bodyPr/>
        <a:lstStyle/>
        <a:p>
          <a:endParaRPr lang="en-US"/>
        </a:p>
      </dgm:t>
    </dgm:pt>
    <dgm:pt modelId="{B08EBAD5-79A5-4888-9EB5-CD61316C5025}" type="sibTrans" cxnId="{3D17BEFD-B4E0-4861-A69F-738463EEFBC8}">
      <dgm:prSet/>
      <dgm:spPr/>
      <dgm:t>
        <a:bodyPr/>
        <a:lstStyle/>
        <a:p>
          <a:endParaRPr lang="en-US"/>
        </a:p>
      </dgm:t>
    </dgm:pt>
    <dgm:pt modelId="{19515FA2-1123-4F8E-A1B0-1FE1CD7A7E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Identify High Risk Segments</a:t>
          </a:r>
        </a:p>
      </dgm:t>
    </dgm:pt>
    <dgm:pt modelId="{B29DEAE4-F952-4FAE-821F-6992DB647E3D}" type="parTrans" cxnId="{F070A8F6-CF67-4B25-968C-6A8490DB0A39}">
      <dgm:prSet/>
      <dgm:spPr/>
      <dgm:t>
        <a:bodyPr/>
        <a:lstStyle/>
        <a:p>
          <a:endParaRPr lang="en-US"/>
        </a:p>
      </dgm:t>
    </dgm:pt>
    <dgm:pt modelId="{F4224983-E429-42B5-A21F-FF0010E2454E}" type="sibTrans" cxnId="{F070A8F6-CF67-4B25-968C-6A8490DB0A39}">
      <dgm:prSet/>
      <dgm:spPr/>
      <dgm:t>
        <a:bodyPr/>
        <a:lstStyle/>
        <a:p>
          <a:endParaRPr lang="en-US"/>
        </a:p>
      </dgm:t>
    </dgm:pt>
    <dgm:pt modelId="{B8BC08D6-BDE3-4061-A180-608A12116E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Maximize Customer Lifetime Value(CLV)</a:t>
          </a:r>
        </a:p>
      </dgm:t>
    </dgm:pt>
    <dgm:pt modelId="{87F45ACA-0B91-4275-86CE-9CD5FBD3BF39}" type="parTrans" cxnId="{8BAF5D89-AD88-4190-9CA4-5553764F6F78}">
      <dgm:prSet/>
      <dgm:spPr/>
      <dgm:t>
        <a:bodyPr/>
        <a:lstStyle/>
        <a:p>
          <a:endParaRPr lang="en-US"/>
        </a:p>
      </dgm:t>
    </dgm:pt>
    <dgm:pt modelId="{250C94D6-EDE4-4689-9DC0-DF66098666DE}" type="sibTrans" cxnId="{8BAF5D89-AD88-4190-9CA4-5553764F6F78}">
      <dgm:prSet/>
      <dgm:spPr/>
      <dgm:t>
        <a:bodyPr/>
        <a:lstStyle/>
        <a:p>
          <a:endParaRPr lang="en-US"/>
        </a:p>
      </dgm:t>
    </dgm:pt>
    <dgm:pt modelId="{58FCD112-B025-4A33-A6DB-6E08DC9E1B3A}" type="pres">
      <dgm:prSet presAssocID="{95348450-D46B-4929-B50A-8A836EEB0A95}" presName="root" presStyleCnt="0">
        <dgm:presLayoutVars>
          <dgm:dir/>
          <dgm:resizeHandles val="exact"/>
        </dgm:presLayoutVars>
      </dgm:prSet>
      <dgm:spPr/>
    </dgm:pt>
    <dgm:pt modelId="{A4953323-7E8F-483D-8267-7FBB441702C6}" type="pres">
      <dgm:prSet presAssocID="{B032AC86-7C8F-42F5-925E-4F1F8EFE2887}" presName="compNode" presStyleCnt="0"/>
      <dgm:spPr/>
    </dgm:pt>
    <dgm:pt modelId="{67F0BEB0-C2C5-4232-BD9C-9BCA846A5F6B}" type="pres">
      <dgm:prSet presAssocID="{B032AC86-7C8F-42F5-925E-4F1F8EFE2887}" presName="bgRect" presStyleLbl="bgShp" presStyleIdx="0" presStyleCnt="3"/>
      <dgm:spPr/>
    </dgm:pt>
    <dgm:pt modelId="{73E86FB2-3829-436F-888D-CD5377A53D05}" type="pres">
      <dgm:prSet presAssocID="{B032AC86-7C8F-42F5-925E-4F1F8EFE288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0B4F21BA-965F-407C-860E-EFC347826AA6}" type="pres">
      <dgm:prSet presAssocID="{B032AC86-7C8F-42F5-925E-4F1F8EFE2887}" presName="spaceRect" presStyleCnt="0"/>
      <dgm:spPr/>
    </dgm:pt>
    <dgm:pt modelId="{D14D6A70-6CF0-48C9-9165-52E427B4EB8C}" type="pres">
      <dgm:prSet presAssocID="{B032AC86-7C8F-42F5-925E-4F1F8EFE2887}" presName="parTx" presStyleLbl="revTx" presStyleIdx="0" presStyleCnt="3">
        <dgm:presLayoutVars>
          <dgm:chMax val="0"/>
          <dgm:chPref val="0"/>
        </dgm:presLayoutVars>
      </dgm:prSet>
      <dgm:spPr/>
    </dgm:pt>
    <dgm:pt modelId="{F5AF277F-3F67-4973-8F9C-D2412F1C5061}" type="pres">
      <dgm:prSet presAssocID="{B08EBAD5-79A5-4888-9EB5-CD61316C5025}" presName="sibTrans" presStyleCnt="0"/>
      <dgm:spPr/>
    </dgm:pt>
    <dgm:pt modelId="{58FB1531-A183-47A0-B7CD-B1A6A6410308}" type="pres">
      <dgm:prSet presAssocID="{19515FA2-1123-4F8E-A1B0-1FE1CD7A7E3C}" presName="compNode" presStyleCnt="0"/>
      <dgm:spPr/>
    </dgm:pt>
    <dgm:pt modelId="{72EBB324-0D5F-457A-AB4A-D9B298E2ABCE}" type="pres">
      <dgm:prSet presAssocID="{19515FA2-1123-4F8E-A1B0-1FE1CD7A7E3C}" presName="bgRect" presStyleLbl="bgShp" presStyleIdx="1" presStyleCnt="3"/>
      <dgm:spPr/>
    </dgm:pt>
    <dgm:pt modelId="{DDB43DDE-28CF-44C8-A24B-2F9DFA94113C}" type="pres">
      <dgm:prSet presAssocID="{19515FA2-1123-4F8E-A1B0-1FE1CD7A7E3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0FCA7BA3-3CFC-4591-8951-FBE286C754A9}" type="pres">
      <dgm:prSet presAssocID="{19515FA2-1123-4F8E-A1B0-1FE1CD7A7E3C}" presName="spaceRect" presStyleCnt="0"/>
      <dgm:spPr/>
    </dgm:pt>
    <dgm:pt modelId="{95F0A212-34C4-418C-BE0E-7C98ECB6F977}" type="pres">
      <dgm:prSet presAssocID="{19515FA2-1123-4F8E-A1B0-1FE1CD7A7E3C}" presName="parTx" presStyleLbl="revTx" presStyleIdx="1" presStyleCnt="3">
        <dgm:presLayoutVars>
          <dgm:chMax val="0"/>
          <dgm:chPref val="0"/>
        </dgm:presLayoutVars>
      </dgm:prSet>
      <dgm:spPr/>
    </dgm:pt>
    <dgm:pt modelId="{10A19E70-6C39-45C6-BF72-0FCB25B6846A}" type="pres">
      <dgm:prSet presAssocID="{F4224983-E429-42B5-A21F-FF0010E2454E}" presName="sibTrans" presStyleCnt="0"/>
      <dgm:spPr/>
    </dgm:pt>
    <dgm:pt modelId="{9AC8E518-3326-4F85-BF6D-7D80D19FCA5B}" type="pres">
      <dgm:prSet presAssocID="{B8BC08D6-BDE3-4061-A180-608A12116EEE}" presName="compNode" presStyleCnt="0"/>
      <dgm:spPr/>
    </dgm:pt>
    <dgm:pt modelId="{F0D88AA7-1E2F-475E-85D1-0157B047E69D}" type="pres">
      <dgm:prSet presAssocID="{B8BC08D6-BDE3-4061-A180-608A12116EEE}" presName="bgRect" presStyleLbl="bgShp" presStyleIdx="2" presStyleCnt="3"/>
      <dgm:spPr/>
    </dgm:pt>
    <dgm:pt modelId="{8A9D2C6B-C413-4879-8373-C8E05BB947E3}" type="pres">
      <dgm:prSet presAssocID="{B8BC08D6-BDE3-4061-A180-608A12116EE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Yuan"/>
        </a:ext>
      </dgm:extLst>
    </dgm:pt>
    <dgm:pt modelId="{E4DE5459-C88B-43AF-BE6B-EDBC49915C68}" type="pres">
      <dgm:prSet presAssocID="{B8BC08D6-BDE3-4061-A180-608A12116EEE}" presName="spaceRect" presStyleCnt="0"/>
      <dgm:spPr/>
    </dgm:pt>
    <dgm:pt modelId="{36B1B6DB-FCE8-4DED-A0FC-CE494337B21B}" type="pres">
      <dgm:prSet presAssocID="{B8BC08D6-BDE3-4061-A180-608A12116EE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9419B3E-8083-4A43-86C4-C94E1C3CC281}" type="presOf" srcId="{B032AC86-7C8F-42F5-925E-4F1F8EFE2887}" destId="{D14D6A70-6CF0-48C9-9165-52E427B4EB8C}" srcOrd="0" destOrd="0" presId="urn:microsoft.com/office/officeart/2018/2/layout/IconVerticalSolidList"/>
    <dgm:cxn modelId="{45C1C271-227A-4756-8C04-D85AEFEC8960}" type="presOf" srcId="{B8BC08D6-BDE3-4061-A180-608A12116EEE}" destId="{36B1B6DB-FCE8-4DED-A0FC-CE494337B21B}" srcOrd="0" destOrd="0" presId="urn:microsoft.com/office/officeart/2018/2/layout/IconVerticalSolidList"/>
    <dgm:cxn modelId="{6AED7675-37B3-446F-AED4-D4A910FFB238}" type="presOf" srcId="{19515FA2-1123-4F8E-A1B0-1FE1CD7A7E3C}" destId="{95F0A212-34C4-418C-BE0E-7C98ECB6F977}" srcOrd="0" destOrd="0" presId="urn:microsoft.com/office/officeart/2018/2/layout/IconVerticalSolidList"/>
    <dgm:cxn modelId="{9EE93583-9E1C-4BFA-8AF8-0CFEFDA5E301}" type="presOf" srcId="{95348450-D46B-4929-B50A-8A836EEB0A95}" destId="{58FCD112-B025-4A33-A6DB-6E08DC9E1B3A}" srcOrd="0" destOrd="0" presId="urn:microsoft.com/office/officeart/2018/2/layout/IconVerticalSolidList"/>
    <dgm:cxn modelId="{8BAF5D89-AD88-4190-9CA4-5553764F6F78}" srcId="{95348450-D46B-4929-B50A-8A836EEB0A95}" destId="{B8BC08D6-BDE3-4061-A180-608A12116EEE}" srcOrd="2" destOrd="0" parTransId="{87F45ACA-0B91-4275-86CE-9CD5FBD3BF39}" sibTransId="{250C94D6-EDE4-4689-9DC0-DF66098666DE}"/>
    <dgm:cxn modelId="{F070A8F6-CF67-4B25-968C-6A8490DB0A39}" srcId="{95348450-D46B-4929-B50A-8A836EEB0A95}" destId="{19515FA2-1123-4F8E-A1B0-1FE1CD7A7E3C}" srcOrd="1" destOrd="0" parTransId="{B29DEAE4-F952-4FAE-821F-6992DB647E3D}" sibTransId="{F4224983-E429-42B5-A21F-FF0010E2454E}"/>
    <dgm:cxn modelId="{3D17BEFD-B4E0-4861-A69F-738463EEFBC8}" srcId="{95348450-D46B-4929-B50A-8A836EEB0A95}" destId="{B032AC86-7C8F-42F5-925E-4F1F8EFE2887}" srcOrd="0" destOrd="0" parTransId="{C7599055-7A7B-42EB-AEA1-9E44284E4735}" sibTransId="{B08EBAD5-79A5-4888-9EB5-CD61316C5025}"/>
    <dgm:cxn modelId="{FD9149E6-8016-4754-B753-A0B95084142C}" type="presParOf" srcId="{58FCD112-B025-4A33-A6DB-6E08DC9E1B3A}" destId="{A4953323-7E8F-483D-8267-7FBB441702C6}" srcOrd="0" destOrd="0" presId="urn:microsoft.com/office/officeart/2018/2/layout/IconVerticalSolidList"/>
    <dgm:cxn modelId="{17BE8D5D-604E-4F82-94D2-D35B8D2E973E}" type="presParOf" srcId="{A4953323-7E8F-483D-8267-7FBB441702C6}" destId="{67F0BEB0-C2C5-4232-BD9C-9BCA846A5F6B}" srcOrd="0" destOrd="0" presId="urn:microsoft.com/office/officeart/2018/2/layout/IconVerticalSolidList"/>
    <dgm:cxn modelId="{AB9C4695-21DD-4C74-8507-0F7C1A3C6365}" type="presParOf" srcId="{A4953323-7E8F-483D-8267-7FBB441702C6}" destId="{73E86FB2-3829-436F-888D-CD5377A53D05}" srcOrd="1" destOrd="0" presId="urn:microsoft.com/office/officeart/2018/2/layout/IconVerticalSolidList"/>
    <dgm:cxn modelId="{5960AAFF-003E-4188-900E-8301A05C7774}" type="presParOf" srcId="{A4953323-7E8F-483D-8267-7FBB441702C6}" destId="{0B4F21BA-965F-407C-860E-EFC347826AA6}" srcOrd="2" destOrd="0" presId="urn:microsoft.com/office/officeart/2018/2/layout/IconVerticalSolidList"/>
    <dgm:cxn modelId="{A5BAD2AA-CE13-40F0-B422-3F846F400471}" type="presParOf" srcId="{A4953323-7E8F-483D-8267-7FBB441702C6}" destId="{D14D6A70-6CF0-48C9-9165-52E427B4EB8C}" srcOrd="3" destOrd="0" presId="urn:microsoft.com/office/officeart/2018/2/layout/IconVerticalSolidList"/>
    <dgm:cxn modelId="{CA6A4429-2659-4871-8616-D700F331C22D}" type="presParOf" srcId="{58FCD112-B025-4A33-A6DB-6E08DC9E1B3A}" destId="{F5AF277F-3F67-4973-8F9C-D2412F1C5061}" srcOrd="1" destOrd="0" presId="urn:microsoft.com/office/officeart/2018/2/layout/IconVerticalSolidList"/>
    <dgm:cxn modelId="{379C82B8-59F3-4254-BC5C-A05F5186F9B9}" type="presParOf" srcId="{58FCD112-B025-4A33-A6DB-6E08DC9E1B3A}" destId="{58FB1531-A183-47A0-B7CD-B1A6A6410308}" srcOrd="2" destOrd="0" presId="urn:microsoft.com/office/officeart/2018/2/layout/IconVerticalSolidList"/>
    <dgm:cxn modelId="{679C1276-1A08-40C2-8233-B210B7FB4E3C}" type="presParOf" srcId="{58FB1531-A183-47A0-B7CD-B1A6A6410308}" destId="{72EBB324-0D5F-457A-AB4A-D9B298E2ABCE}" srcOrd="0" destOrd="0" presId="urn:microsoft.com/office/officeart/2018/2/layout/IconVerticalSolidList"/>
    <dgm:cxn modelId="{47B4CBF3-9719-41BD-9C15-3A9E1BBBB367}" type="presParOf" srcId="{58FB1531-A183-47A0-B7CD-B1A6A6410308}" destId="{DDB43DDE-28CF-44C8-A24B-2F9DFA94113C}" srcOrd="1" destOrd="0" presId="urn:microsoft.com/office/officeart/2018/2/layout/IconVerticalSolidList"/>
    <dgm:cxn modelId="{01A24B6F-8FC6-499F-9434-235E6B18D5EC}" type="presParOf" srcId="{58FB1531-A183-47A0-B7CD-B1A6A6410308}" destId="{0FCA7BA3-3CFC-4591-8951-FBE286C754A9}" srcOrd="2" destOrd="0" presId="urn:microsoft.com/office/officeart/2018/2/layout/IconVerticalSolidList"/>
    <dgm:cxn modelId="{E90A4C7C-AD3C-40FF-9F9B-4FE711E926A1}" type="presParOf" srcId="{58FB1531-A183-47A0-B7CD-B1A6A6410308}" destId="{95F0A212-34C4-418C-BE0E-7C98ECB6F977}" srcOrd="3" destOrd="0" presId="urn:microsoft.com/office/officeart/2018/2/layout/IconVerticalSolidList"/>
    <dgm:cxn modelId="{C65BEF3E-F543-4036-9F71-C012D4BFCBFF}" type="presParOf" srcId="{58FCD112-B025-4A33-A6DB-6E08DC9E1B3A}" destId="{10A19E70-6C39-45C6-BF72-0FCB25B6846A}" srcOrd="3" destOrd="0" presId="urn:microsoft.com/office/officeart/2018/2/layout/IconVerticalSolidList"/>
    <dgm:cxn modelId="{8096C91C-C1E6-4C80-AD11-572483059883}" type="presParOf" srcId="{58FCD112-B025-4A33-A6DB-6E08DC9E1B3A}" destId="{9AC8E518-3326-4F85-BF6D-7D80D19FCA5B}" srcOrd="4" destOrd="0" presId="urn:microsoft.com/office/officeart/2018/2/layout/IconVerticalSolidList"/>
    <dgm:cxn modelId="{FA3E6527-6181-45CD-B485-E6834EEBE2BD}" type="presParOf" srcId="{9AC8E518-3326-4F85-BF6D-7D80D19FCA5B}" destId="{F0D88AA7-1E2F-475E-85D1-0157B047E69D}" srcOrd="0" destOrd="0" presId="urn:microsoft.com/office/officeart/2018/2/layout/IconVerticalSolidList"/>
    <dgm:cxn modelId="{15BE64EE-97CD-463F-8942-D55579C10BF7}" type="presParOf" srcId="{9AC8E518-3326-4F85-BF6D-7D80D19FCA5B}" destId="{8A9D2C6B-C413-4879-8373-C8E05BB947E3}" srcOrd="1" destOrd="0" presId="urn:microsoft.com/office/officeart/2018/2/layout/IconVerticalSolidList"/>
    <dgm:cxn modelId="{53645FF9-2A88-487C-8D93-02D53CC06202}" type="presParOf" srcId="{9AC8E518-3326-4F85-BF6D-7D80D19FCA5B}" destId="{E4DE5459-C88B-43AF-BE6B-EDBC49915C68}" srcOrd="2" destOrd="0" presId="urn:microsoft.com/office/officeart/2018/2/layout/IconVerticalSolidList"/>
    <dgm:cxn modelId="{64CBF696-E105-4AB9-BF1A-B0C7333495E0}" type="presParOf" srcId="{9AC8E518-3326-4F85-BF6D-7D80D19FCA5B}" destId="{36B1B6DB-FCE8-4DED-A0FC-CE494337B21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F0BEB0-C2C5-4232-BD9C-9BCA846A5F6B}">
      <dsp:nvSpPr>
        <dsp:cNvPr id="0" name=""/>
        <dsp:cNvSpPr/>
      </dsp:nvSpPr>
      <dsp:spPr>
        <a:xfrm>
          <a:off x="0" y="450"/>
          <a:ext cx="10168127" cy="105522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E86FB2-3829-436F-888D-CD5377A53D05}">
      <dsp:nvSpPr>
        <dsp:cNvPr id="0" name=""/>
        <dsp:cNvSpPr/>
      </dsp:nvSpPr>
      <dsp:spPr>
        <a:xfrm>
          <a:off x="319204" y="237875"/>
          <a:ext cx="580371" cy="5803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4D6A70-6CF0-48C9-9165-52E427B4EB8C}">
      <dsp:nvSpPr>
        <dsp:cNvPr id="0" name=""/>
        <dsp:cNvSpPr/>
      </dsp:nvSpPr>
      <dsp:spPr>
        <a:xfrm>
          <a:off x="1218780" y="450"/>
          <a:ext cx="8949347" cy="10552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678" tIns="111678" rIns="111678" bIns="11167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Reduce Subscriber Churn</a:t>
          </a:r>
        </a:p>
      </dsp:txBody>
      <dsp:txXfrm>
        <a:off x="1218780" y="450"/>
        <a:ext cx="8949347" cy="1055221"/>
      </dsp:txXfrm>
    </dsp:sp>
    <dsp:sp modelId="{72EBB324-0D5F-457A-AB4A-D9B298E2ABCE}">
      <dsp:nvSpPr>
        <dsp:cNvPr id="0" name=""/>
        <dsp:cNvSpPr/>
      </dsp:nvSpPr>
      <dsp:spPr>
        <a:xfrm>
          <a:off x="0" y="1319477"/>
          <a:ext cx="10168127" cy="105522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B43DDE-28CF-44C8-A24B-2F9DFA94113C}">
      <dsp:nvSpPr>
        <dsp:cNvPr id="0" name=""/>
        <dsp:cNvSpPr/>
      </dsp:nvSpPr>
      <dsp:spPr>
        <a:xfrm>
          <a:off x="319204" y="1556902"/>
          <a:ext cx="580371" cy="5803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F0A212-34C4-418C-BE0E-7C98ECB6F977}">
      <dsp:nvSpPr>
        <dsp:cNvPr id="0" name=""/>
        <dsp:cNvSpPr/>
      </dsp:nvSpPr>
      <dsp:spPr>
        <a:xfrm>
          <a:off x="1218780" y="1319477"/>
          <a:ext cx="8949347" cy="10552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678" tIns="111678" rIns="111678" bIns="11167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Identify High Risk Segments</a:t>
          </a:r>
        </a:p>
      </dsp:txBody>
      <dsp:txXfrm>
        <a:off x="1218780" y="1319477"/>
        <a:ext cx="8949347" cy="1055221"/>
      </dsp:txXfrm>
    </dsp:sp>
    <dsp:sp modelId="{F0D88AA7-1E2F-475E-85D1-0157B047E69D}">
      <dsp:nvSpPr>
        <dsp:cNvPr id="0" name=""/>
        <dsp:cNvSpPr/>
      </dsp:nvSpPr>
      <dsp:spPr>
        <a:xfrm>
          <a:off x="0" y="2638503"/>
          <a:ext cx="10168127" cy="105522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9D2C6B-C413-4879-8373-C8E05BB947E3}">
      <dsp:nvSpPr>
        <dsp:cNvPr id="0" name=""/>
        <dsp:cNvSpPr/>
      </dsp:nvSpPr>
      <dsp:spPr>
        <a:xfrm>
          <a:off x="319204" y="2875928"/>
          <a:ext cx="580371" cy="5803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B1B6DB-FCE8-4DED-A0FC-CE494337B21B}">
      <dsp:nvSpPr>
        <dsp:cNvPr id="0" name=""/>
        <dsp:cNvSpPr/>
      </dsp:nvSpPr>
      <dsp:spPr>
        <a:xfrm>
          <a:off x="1218780" y="2638503"/>
          <a:ext cx="8949347" cy="10552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678" tIns="111678" rIns="111678" bIns="11167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Maximize Customer Lifetime Value(CLV)</a:t>
          </a:r>
        </a:p>
      </dsp:txBody>
      <dsp:txXfrm>
        <a:off x="1218780" y="2638503"/>
        <a:ext cx="8949347" cy="10552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6496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967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56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221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815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416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84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824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71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415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388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670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26" r:id="rId6"/>
    <p:sldLayoutId id="2147483731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4651FF8-1F10-0AB7-49F0-978701972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87644F-3E4E-9C97-DFDC-D3F7A2B6A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9801" y="638176"/>
            <a:ext cx="9172398" cy="5581648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06758" y="1269995"/>
            <a:ext cx="8178484" cy="2570656"/>
          </a:xfrm>
        </p:spPr>
        <p:txBody>
          <a:bodyPr anchor="ctr">
            <a:normAutofit/>
          </a:bodyPr>
          <a:lstStyle/>
          <a:p>
            <a:pPr algn="ctr"/>
            <a:r>
              <a:rPr lang="en-US" sz="5100">
                <a:ea typeface="+mj-lt"/>
                <a:cs typeface="+mj-lt"/>
              </a:rPr>
              <a:t>BOXIFY </a:t>
            </a:r>
            <a:br>
              <a:rPr lang="en-US" sz="5100">
                <a:ea typeface="+mj-lt"/>
                <a:cs typeface="+mj-lt"/>
              </a:rPr>
            </a:br>
            <a:r>
              <a:rPr lang="en-US" sz="5100">
                <a:ea typeface="+mj-lt"/>
                <a:cs typeface="+mj-lt"/>
              </a:rPr>
              <a:t>Customer Churn Analysis &amp; Retention Strategy</a:t>
            </a:r>
            <a:endParaRPr lang="en-US" sz="51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2720" y="4613283"/>
            <a:ext cx="7326560" cy="11577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ea typeface="+mn-lt"/>
                <a:cs typeface="+mn-lt"/>
              </a:rPr>
              <a:t>Prepared By: Anurag Das</a:t>
            </a:r>
            <a:endParaRPr lang="en-US" sz="2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058123-00F3-558B-D353-674B7B9B1B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44440" y="4259315"/>
            <a:ext cx="210312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211104-5508-9F53-82C5-732E80D73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031992" y="5854064"/>
            <a:ext cx="128016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556AE2-8B01-B8CD-2131-801A66E16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b="0">
                <a:ea typeface="+mj-lt"/>
                <a:cs typeface="+mj-lt"/>
              </a:rPr>
              <a:t>Business Overview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F5B6B-01E1-27EE-086F-92BAE9E69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WHAT IS BOXIFY? </a:t>
            </a:r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   D2C E-commerce platform</a:t>
            </a:r>
            <a:endParaRPr lang="en-US" sz="2000"/>
          </a:p>
          <a:p>
            <a:pPr marL="0" indent="0">
              <a:buNone/>
            </a:pPr>
            <a:endParaRPr lang="en-US" sz="2000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 SUBSCRIPTION MODEL </a:t>
            </a:r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Flat monthly fee </a:t>
            </a:r>
          </a:p>
        </p:txBody>
      </p:sp>
    </p:spTree>
    <p:extLst>
      <p:ext uri="{BB962C8B-B14F-4D97-AF65-F5344CB8AC3E}">
        <p14:creationId xmlns:p14="http://schemas.microsoft.com/office/powerpoint/2010/main" val="85744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69651-EC97-D9B1-9730-CEA616B4A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Objective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8D38A4E2-8D56-629D-8E3C-850245B8F5B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15568" y="2478024"/>
          <a:ext cx="10168128" cy="36941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739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4CAAF-0438-A14C-9127-49F4381AD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776165"/>
          </a:xfrm>
        </p:spPr>
        <p:txBody>
          <a:bodyPr/>
          <a:lstStyle/>
          <a:p>
            <a:pPr algn="ctr"/>
            <a:r>
              <a:rPr lang="en-US" b="0">
                <a:ea typeface="+mj-lt"/>
                <a:cs typeface="+mj-lt"/>
              </a:rPr>
              <a:t>Core KPIs</a:t>
            </a:r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5A131FB-BAF6-4B31-8E95-8338F2CBF8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862" y="1800499"/>
            <a:ext cx="2428874" cy="173019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430637-9D3C-4A40-8756-E1FC374999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8306" y="1753146"/>
            <a:ext cx="2494710" cy="17301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EABDA4-15CA-4D15-9D72-40A0ED374A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586" y="1750943"/>
            <a:ext cx="2391614" cy="17301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3B9D65C-10B0-4D93-B644-7A55701E0C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3770" y="1800499"/>
            <a:ext cx="2303368" cy="162850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BE396E4-8649-47A8-8EC9-D42C5071A5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1179" y="4112105"/>
            <a:ext cx="2662517" cy="163381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8271B16-F829-438C-91DB-AC33D74E7B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8373" y="4112105"/>
            <a:ext cx="2662518" cy="163381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0EEFFF5-CC2D-4C79-BB0F-D2C924A1F0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095" y="4220139"/>
            <a:ext cx="2662518" cy="163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54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2B5DF-CABB-1A2D-31F4-A955067C6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549128" cy="809783"/>
          </a:xfrm>
        </p:spPr>
        <p:txBody>
          <a:bodyPr>
            <a:normAutofit fontScale="90000"/>
          </a:bodyPr>
          <a:lstStyle/>
          <a:p>
            <a:r>
              <a:rPr lang="en-US" b="0">
                <a:ea typeface="+mj-lt"/>
                <a:cs typeface="+mj-lt"/>
              </a:rPr>
              <a:t>High-Risk Customer Segments: Tier &amp; Location</a:t>
            </a:r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B93BD54-11B0-4118-9341-3C84507911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281" y="2260010"/>
            <a:ext cx="4631565" cy="2715401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9B5E4F-7966-40AC-AF7D-D8BE9665B9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4522" y="2322244"/>
            <a:ext cx="4631565" cy="2715400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3DB00893-A868-46C8-9877-EBFA3995187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87281" y="5362151"/>
            <a:ext cx="10853072" cy="11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Tier Risk: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Premium subscribers have the highest churn rate (52%), followed by Standard (38%) and Basic (37%).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Location Risk: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Churn is distributed across regions—Rural (42.63%), Suburban (40.44%), Urban (39.95%), and Sub-Urban (33.33%).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4927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50512-E1F6-C579-F81A-3D1098735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694316"/>
            <a:ext cx="10168128" cy="1022695"/>
          </a:xfrm>
        </p:spPr>
        <p:txBody>
          <a:bodyPr/>
          <a:lstStyle/>
          <a:p>
            <a:pPr algn="ctr"/>
            <a:r>
              <a:rPr lang="en-US" b="0">
                <a:ea typeface="+mj-lt"/>
                <a:cs typeface="+mj-lt"/>
              </a:rPr>
              <a:t>Subscriber Tenure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C51DD3-6D0C-3118-A638-DE463DDE5982}"/>
              </a:ext>
            </a:extLst>
          </p:cNvPr>
          <p:cNvSpPr txBox="1"/>
          <p:nvPr/>
        </p:nvSpPr>
        <p:spPr>
          <a:xfrm>
            <a:off x="1120588" y="5591735"/>
            <a:ext cx="1016310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dirty="0"/>
              <a:t>Churn peaks at </a:t>
            </a:r>
            <a:r>
              <a:rPr lang="en-US" b="1" dirty="0"/>
              <a:t>Month 1 (150 cancellations)</a:t>
            </a:r>
            <a:r>
              <a:rPr lang="en-US" dirty="0"/>
              <a:t> and stays elevated through the first year before tapering off after Month 25.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00D4039-6744-4B9C-9D25-FF4395F4E2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788" y="2347870"/>
            <a:ext cx="10336306" cy="2699259"/>
          </a:xfrm>
        </p:spPr>
      </p:pic>
    </p:spTree>
    <p:extLst>
      <p:ext uri="{BB962C8B-B14F-4D97-AF65-F5344CB8AC3E}">
        <p14:creationId xmlns:p14="http://schemas.microsoft.com/office/powerpoint/2010/main" val="3390694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99576-7B4D-F3D7-715F-73E04F000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745" y="582258"/>
            <a:ext cx="11367156" cy="899430"/>
          </a:xfrm>
        </p:spPr>
        <p:txBody>
          <a:bodyPr>
            <a:normAutofit fontScale="90000"/>
          </a:bodyPr>
          <a:lstStyle/>
          <a:p>
            <a:r>
              <a:rPr lang="en-US" b="0">
                <a:ea typeface="+mj-lt"/>
                <a:cs typeface="+mj-lt"/>
              </a:rPr>
              <a:t>Behavioral Drivers: Engagement &amp; Box Interactions</a:t>
            </a:r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8BDE444-577E-4F6F-917A-F6CA326099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099" y="1904347"/>
            <a:ext cx="6776689" cy="3241394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B68E88-41E9-4B8B-A5D2-BE3908542D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788" y="2018742"/>
            <a:ext cx="4854361" cy="2938740"/>
          </a:xfrm>
          <a:prstGeom prst="rect">
            <a:avLst/>
          </a:prstGeom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C2EEEE53-512C-4350-A205-77B7224E8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85" y="4963622"/>
            <a:ext cx="11860215" cy="1431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Interaction Impact: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Churn is heavily concentrated among users with low-to-moderate activity, peaking at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2 to 3 box interactions per month (over 400 churned users each).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Engagement Threshold: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Churn clusters around mid-range engagement scores between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4.0 and 6.5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peaking sharply at an engagement score of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6.5 (79 cancellations). 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555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D14F2-B2D1-2920-7107-1C85FB777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Recommendations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C62E42-5E2C-4507-916B-496672EB2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830" y="2313629"/>
            <a:ext cx="10748866" cy="2816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Fix Early Onboarding (Months 1–6):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Target and reduce the critical early drop-off, starting with Month 1 (150 churned users).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Boost Box Interactions: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Focus retention campaigns on low-activity users completing only 1 to 3 box interactions per month.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Protect At-Risk Subscribers: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Target interventions at mid-range engagement scores (4.0–6.5) and re-evaluate Premium tier retention (52% churn)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803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EF680B-29C3-BCF8-0558-287BA0A44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b="0">
                <a:ea typeface="+mj-lt"/>
                <a:cs typeface="+mj-lt"/>
              </a:rPr>
              <a:t>Measuring Impact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374B147-2C3D-4A7D-9294-06B530A72D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90127" y="1515584"/>
            <a:ext cx="6480081" cy="3370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Weekly Operations Dashboard: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Track weekly box customization rates to push users beyond the vulnerable 1–3 monthly interaction zone.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Monthly Engagement &amp; Churn Watch: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Monitor subscribers falling in the 4.0–6.5 engagement band and address early drop-offs within the first 6 months.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Google Sans Tex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Quarterly Revenue Impact: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Work toward lowering the overall churn rate from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40.46%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to recover a portion of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$832.85K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lost revenue.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304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E3ED910-979B-508F-0B2C-9AC32A060C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36EA369-C517-71AE-A333-1FAED0106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6072" y="638176"/>
            <a:ext cx="11151471" cy="5581648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C8809D-133F-CA3E-41D1-A7C680242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79" y="1055057"/>
            <a:ext cx="7690243" cy="29181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/>
              <a:t>THANK YOU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80C1AD-8416-EEC2-E3FC-A6A726BED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031992" y="272416"/>
            <a:ext cx="128016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2021735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</TotalTime>
  <Words>334</Words>
  <Application>Microsoft Office PowerPoint</Application>
  <PresentationFormat>Widescreen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Google Sans Text</vt:lpstr>
      <vt:lpstr>Neue Haas Grotesk Text Pro</vt:lpstr>
      <vt:lpstr>AccentBoxVTI</vt:lpstr>
      <vt:lpstr>BOXIFY  Customer Churn Analysis &amp; Retention Strategy</vt:lpstr>
      <vt:lpstr>Business Overview</vt:lpstr>
      <vt:lpstr>Objective</vt:lpstr>
      <vt:lpstr>Core KPIs</vt:lpstr>
      <vt:lpstr>High-Risk Customer Segments: Tier &amp; Location</vt:lpstr>
      <vt:lpstr>Subscriber Tenure</vt:lpstr>
      <vt:lpstr>Behavioral Drivers: Engagement &amp; Box Interactions</vt:lpstr>
      <vt:lpstr>Recommendations</vt:lpstr>
      <vt:lpstr>Measuring Impact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BOXIFY  Customer Churn Analysis &amp; Retention Strategy</dc:title>
  <dc:creator/>
  <cp:lastModifiedBy>Anurag</cp:lastModifiedBy>
  <cp:revision>176</cp:revision>
  <dcterms:created xsi:type="dcterms:W3CDTF">2026-07-31T06:09:44Z</dcterms:created>
  <dcterms:modified xsi:type="dcterms:W3CDTF">2026-10-06T18:47:55Z</dcterms:modified>
</cp:coreProperties>
</file>